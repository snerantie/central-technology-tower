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914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Enterprise AI Agent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FF9900"/>
                </a:solidFill>
                <a:latin typeface="Calibri"/>
              </a:rPr>
              <a:t>Delivery Roadmap: MVP to Central Control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006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800" b="0" i="0">
                <a:solidFill>
                  <a:srgbClr val="F2F4F7"/>
                </a:solidFill>
                <a:latin typeface="Calibri"/>
              </a:rPr>
              <a:t>6 Phases  -  12 Months  -  Built on Amazon Web Services (AWS)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1">
                <a:solidFill>
                  <a:srgbClr val="6B7480"/>
                </a:solidFill>
                <a:latin typeface="Calibri"/>
              </a:rPr>
              <a:t>Powered by Amazon Bedrock, Transcribe, QuickSight &amp; Step Functions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Programme Roadmap - 12 Month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5661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2430"/>
                </a:solidFill>
                <a:latin typeface="Calibri"/>
              </a:rPr>
              <a:t>Phase / Workstream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7868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868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4464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464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9996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996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1060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060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6592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592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7656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7656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31880" y="914400"/>
            <a:ext cx="655320" cy="411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31880" y="914400"/>
            <a:ext cx="6553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2430"/>
                </a:solidFill>
                <a:latin typeface="Calibri"/>
              </a:rPr>
              <a:t>M12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7868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400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8932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4464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9996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5528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1060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6592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4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7656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3188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887200" y="1417320"/>
            <a:ext cx="9525" cy="4315968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141732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1 - Administrative AI Agent (MVP)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32885" y="1512570"/>
            <a:ext cx="1291590" cy="467868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0" y="1417320"/>
            <a:ext cx="131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M1-M2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14884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2 - Action Tracking 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43525" y="2244090"/>
            <a:ext cx="636270" cy="467868"/>
          </a:xfrm>
          <a:prstGeom prst="roundRect">
            <a:avLst/>
          </a:prstGeom>
          <a:solidFill>
            <a:srgbClr val="28B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34000" y="2148840"/>
            <a:ext cx="655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288036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3 - Governance &amp; Forum Agent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98845" y="2975610"/>
            <a:ext cx="1291590" cy="46786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89320" y="2880360"/>
            <a:ext cx="131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M4-M5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361188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4 - Reporting &amp; Analytics Agent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09485" y="3707130"/>
            <a:ext cx="1291590" cy="46786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99960" y="3611880"/>
            <a:ext cx="131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M6-M7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434340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5 - Enterprise Knowledge Agent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20125" y="4438650"/>
            <a:ext cx="1291590" cy="467868"/>
          </a:xfrm>
          <a:prstGeom prst="round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10600" y="4343400"/>
            <a:ext cx="131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M8-M9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5074920"/>
            <a:ext cx="35661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2430"/>
                </a:solidFill>
                <a:latin typeface="Calibri"/>
              </a:rPr>
              <a:t>Phase 6 - Central Control Tower (Orchestration)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30765" y="5170170"/>
            <a:ext cx="1946910" cy="46786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21240" y="5074920"/>
            <a:ext cx="1965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M10-M12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23360" y="5806440"/>
            <a:ext cx="7863840" cy="1828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251323" y="5733288"/>
            <a:ext cx="146304" cy="14630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0" y="5943600"/>
            <a:ext cx="131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1B2430"/>
                </a:solidFill>
                <a:latin typeface="Calibri"/>
              </a:rPr>
              <a:t>M2: MVP live</a:t>
            </a:r>
          </a:p>
        </p:txBody>
      </p:sp>
      <p:sp>
        <p:nvSpPr>
          <p:cNvPr id="64" name="Oval 63"/>
          <p:cNvSpPr/>
          <p:nvPr/>
        </p:nvSpPr>
        <p:spPr>
          <a:xfrm>
            <a:off x="7217283" y="5733288"/>
            <a:ext cx="146304" cy="14630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5943600"/>
            <a:ext cx="131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1B2430"/>
                </a:solidFill>
                <a:latin typeface="Calibri"/>
              </a:rPr>
              <a:t>M5: Governance insights</a:t>
            </a:r>
          </a:p>
        </p:txBody>
      </p:sp>
      <p:sp>
        <p:nvSpPr>
          <p:cNvPr id="66" name="Oval 65"/>
          <p:cNvSpPr/>
          <p:nvPr/>
        </p:nvSpPr>
        <p:spPr>
          <a:xfrm>
            <a:off x="9838563" y="5733288"/>
            <a:ext cx="146304" cy="14630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10600" y="5943600"/>
            <a:ext cx="131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1B2430"/>
                </a:solidFill>
                <a:latin typeface="Calibri"/>
              </a:rPr>
              <a:t>M9: Knowledge Q&amp;A</a:t>
            </a:r>
          </a:p>
        </p:txBody>
      </p:sp>
      <p:sp>
        <p:nvSpPr>
          <p:cNvPr id="68" name="Oval 67"/>
          <p:cNvSpPr/>
          <p:nvPr/>
        </p:nvSpPr>
        <p:spPr>
          <a:xfrm>
            <a:off x="11804523" y="5733288"/>
            <a:ext cx="146304" cy="14630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76560" y="5943600"/>
            <a:ext cx="131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1B2430"/>
                </a:solidFill>
                <a:latin typeface="Calibri"/>
              </a:rPr>
              <a:t>M12: Control Tower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6B7480"/>
                </a:solidFill>
                <a:latin typeface="Calibri"/>
              </a:rPr>
              <a:t>Diamonds = key milestones.  Bars span planned delivery months per phase.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Phase Detail &amp; AWS Service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00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65760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Phase &amp; Timeline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960120"/>
            <a:ext cx="4572000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960120"/>
            <a:ext cx="457200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960120"/>
            <a:ext cx="2926080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960120"/>
            <a:ext cx="2926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Core AWS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11521440" cy="8046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109728" cy="80467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60" y="1463040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1 - Administrative AI Agent (MVP)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(M1-M2)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463040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Automate meeting admin: transcripts to minutes, actions, owners, due 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1463040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Transcribe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Bedrock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S3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DynamoDB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AWS Lambda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67712"/>
            <a:ext cx="1152144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267712"/>
            <a:ext cx="109728" cy="804672"/>
          </a:xfrm>
          <a:prstGeom prst="rect">
            <a:avLst/>
          </a:prstGeom>
          <a:solidFill>
            <a:srgbClr val="28B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760" y="2267712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2 - Action Tracking Agent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267712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Monitor, remind, escalate and report on open / overdue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267712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EventBridge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SES / SNS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DynamoDB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AWS Lambda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72384"/>
            <a:ext cx="11521440" cy="8046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72384"/>
            <a:ext cx="109728" cy="804672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760" y="3072384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3 - Governance &amp; Forum Agent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(M4-M5)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072384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Read SteerCo / CIO / Cyber / Risk / Audit outputs; detect themes &amp; risks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072384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Bedrock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Bedrock Knowledge Bases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S3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AWS Lambda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77056"/>
            <a:ext cx="1152144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77056"/>
            <a:ext cx="109728" cy="80467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5760" y="3877056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4 - Reporting &amp; Analytics Agent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(M6-M7)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3877056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Consolidate reports, measure delivery, build CIO packs &amp; trend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877056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QuickSight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AWS Glue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Athena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S3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681728"/>
            <a:ext cx="11521440" cy="8046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681728"/>
            <a:ext cx="109728" cy="804672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760" y="4681728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5 - Enterprise Knowledge Agent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(M8-M9)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81728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Searchable organisational memory; natural-language Q&amp;A over all outputs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4681728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Bedrock Knowledge Bases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OpenSearch Serverless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Bedrock (RAG)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486400"/>
            <a:ext cx="1152144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5486400"/>
            <a:ext cx="109728" cy="8046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5760" y="5486400"/>
            <a:ext cx="3520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Phase 6 - Central Control Tower (Orchestration)</a:t>
            </a:r>
          </a:p>
          <a:p>
            <a:pPr algn="l"/>
            <a:r>
              <a:rPr sz="1050" b="1" i="0">
                <a:solidFill>
                  <a:srgbClr val="1B2430"/>
                </a:solidFill>
                <a:latin typeface="Calibri"/>
              </a:rPr>
              <a:t>(M10-M12)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5486400"/>
            <a:ext cx="45720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1B2430"/>
                </a:solidFill>
                <a:latin typeface="Calibri"/>
              </a:rPr>
              <a:t>Connect all agents through a central platform - the "spine"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5486400"/>
            <a:ext cx="2926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Bedrock Agents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AWS Step Functions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API Gateway</a:t>
            </a:r>
          </a:p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Amazon Cognito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355080"/>
            <a:ext cx="11521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6B7480"/>
                </a:solidFill>
                <a:latin typeface="Calibri"/>
              </a:rPr>
              <a:t>Cross-cutting from M1: Security &amp; IAM, Cost governance, Data privacy, CI/CD, Human-in-the-loop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
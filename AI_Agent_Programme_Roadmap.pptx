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617720"/>
            <a:ext cx="12191695" cy="9144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12801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Enterprise AI Agent Programme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26080"/>
            <a:ext cx="105156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600" b="1" i="0">
                <a:solidFill>
                  <a:srgbClr val="FF9900"/>
                </a:solidFill>
                <a:latin typeface="Calibri"/>
              </a:rPr>
              <a:t>Delivery Roadmap: MVP to Central Control Tower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800600"/>
            <a:ext cx="105156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800" b="0" i="0">
                <a:solidFill>
                  <a:srgbClr val="F2F4F7"/>
                </a:solidFill>
                <a:latin typeface="Calibri"/>
              </a:rPr>
              <a:t>6 Phases  -  5 Months  -  Built on Amazon Web Services (AWS)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126480"/>
            <a:ext cx="10515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 i="1">
                <a:solidFill>
                  <a:srgbClr val="6B7480"/>
                </a:solidFill>
                <a:latin typeface="Calibri"/>
              </a:rPr>
              <a:t>Powered by Amazon Bedrock, Transcribe, QuickSight &amp; Step Functions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Programme Roadmap - 5 Month Timeline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14400"/>
            <a:ext cx="3566160" cy="411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1B2430"/>
                </a:solidFill>
                <a:latin typeface="Calibri"/>
              </a:rPr>
              <a:t>Phase / Workstream</a:t>
            </a:r>
          </a:p>
        </p:txBody>
      </p:sp>
      <p:sp>
        <p:nvSpPr>
          <p:cNvPr id="6" name="Rectangle 5"/>
          <p:cNvSpPr/>
          <p:nvPr/>
        </p:nvSpPr>
        <p:spPr>
          <a:xfrm>
            <a:off x="4023360" y="914400"/>
            <a:ext cx="1572768" cy="4114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023360" y="914400"/>
            <a:ext cx="1572768" cy="411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100" b="1" i="0">
                <a:solidFill>
                  <a:srgbClr val="1B2430"/>
                </a:solidFill>
                <a:latin typeface="Calibri"/>
              </a:rPr>
              <a:t>M1</a:t>
            </a:r>
          </a:p>
        </p:txBody>
      </p:sp>
      <p:sp>
        <p:nvSpPr>
          <p:cNvPr id="8" name="Rectangle 7"/>
          <p:cNvSpPr/>
          <p:nvPr/>
        </p:nvSpPr>
        <p:spPr>
          <a:xfrm>
            <a:off x="5596128" y="914400"/>
            <a:ext cx="1572768" cy="4114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96128" y="914400"/>
            <a:ext cx="1572768" cy="411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100" b="1" i="0">
                <a:solidFill>
                  <a:srgbClr val="1B2430"/>
                </a:solidFill>
                <a:latin typeface="Calibri"/>
              </a:rPr>
              <a:t>M2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68896" y="914400"/>
            <a:ext cx="1572768" cy="4114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68896" y="914400"/>
            <a:ext cx="1572768" cy="411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100" b="1" i="0">
                <a:solidFill>
                  <a:srgbClr val="1B2430"/>
                </a:solidFill>
                <a:latin typeface="Calibri"/>
              </a:rPr>
              <a:t>M3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41664" y="914400"/>
            <a:ext cx="1572768" cy="4114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41664" y="914400"/>
            <a:ext cx="1572768" cy="411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100" b="1" i="0">
                <a:solidFill>
                  <a:srgbClr val="1B2430"/>
                </a:solidFill>
                <a:latin typeface="Calibri"/>
              </a:rPr>
              <a:t>M4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14432" y="914400"/>
            <a:ext cx="1572768" cy="4114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14432" y="914400"/>
            <a:ext cx="1572768" cy="411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100" b="1" i="0">
                <a:solidFill>
                  <a:srgbClr val="1B2430"/>
                </a:solidFill>
                <a:latin typeface="Calibri"/>
              </a:rPr>
              <a:t>M5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023360" y="1417320"/>
            <a:ext cx="9525" cy="4315968"/>
          </a:xfrm>
          <a:prstGeom prst="rect">
            <a:avLst/>
          </a:prstGeom>
          <a:solidFill>
            <a:srgbClr val="E2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596128" y="1417320"/>
            <a:ext cx="9525" cy="4315968"/>
          </a:xfrm>
          <a:prstGeom prst="rect">
            <a:avLst/>
          </a:prstGeom>
          <a:solidFill>
            <a:srgbClr val="E2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168896" y="1417320"/>
            <a:ext cx="9525" cy="4315968"/>
          </a:xfrm>
          <a:prstGeom prst="rect">
            <a:avLst/>
          </a:prstGeom>
          <a:solidFill>
            <a:srgbClr val="E2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741664" y="1417320"/>
            <a:ext cx="9525" cy="4315968"/>
          </a:xfrm>
          <a:prstGeom prst="rect">
            <a:avLst/>
          </a:prstGeom>
          <a:solidFill>
            <a:srgbClr val="E2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314432" y="1417320"/>
            <a:ext cx="9525" cy="4315968"/>
          </a:xfrm>
          <a:prstGeom prst="rect">
            <a:avLst/>
          </a:prstGeom>
          <a:solidFill>
            <a:srgbClr val="E2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887200" y="1417320"/>
            <a:ext cx="9525" cy="4315968"/>
          </a:xfrm>
          <a:prstGeom prst="rect">
            <a:avLst/>
          </a:prstGeom>
          <a:solidFill>
            <a:srgbClr val="E2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1417320"/>
            <a:ext cx="356616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1B2430"/>
                </a:solidFill>
                <a:latin typeface="Calibri"/>
              </a:rPr>
              <a:t>Phase 1 - Administrative AI Agent (MVP)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032885" y="1512570"/>
            <a:ext cx="1553718" cy="467868"/>
          </a:xfrm>
          <a:prstGeom prst="round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23360" y="1417320"/>
            <a:ext cx="1572768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M1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2148840"/>
            <a:ext cx="356616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1B2430"/>
                </a:solidFill>
                <a:latin typeface="Calibri"/>
              </a:rPr>
              <a:t>Phase 2 - Action Tracking Agent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05653" y="2244090"/>
            <a:ext cx="1553718" cy="467868"/>
          </a:xfrm>
          <a:prstGeom prst="roundRect">
            <a:avLst/>
          </a:prstGeom>
          <a:solidFill>
            <a:srgbClr val="28B4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96128" y="2148840"/>
            <a:ext cx="1572768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M2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2880360"/>
            <a:ext cx="356616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1B2430"/>
                </a:solidFill>
                <a:latin typeface="Calibri"/>
              </a:rPr>
              <a:t>Phase 3 - Governance &amp; Forum Agent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05653" y="2975610"/>
            <a:ext cx="3126486" cy="467868"/>
          </a:xfrm>
          <a:prstGeom prst="round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596128" y="2880360"/>
            <a:ext cx="3145536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M2-M3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3611880"/>
            <a:ext cx="356616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1B2430"/>
                </a:solidFill>
                <a:latin typeface="Calibri"/>
              </a:rPr>
              <a:t>Phase 4 - Reporting &amp; Analytics Agent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178421" y="3707130"/>
            <a:ext cx="3126486" cy="467868"/>
          </a:xfrm>
          <a:prstGeom prst="round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68896" y="3611880"/>
            <a:ext cx="3145536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M3-M4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4343400"/>
            <a:ext cx="356616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1B2430"/>
                </a:solidFill>
                <a:latin typeface="Calibri"/>
              </a:rPr>
              <a:t>Phase 5 - Enterprise Knowledge Agent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751189" y="4438650"/>
            <a:ext cx="1553718" cy="467868"/>
          </a:xfrm>
          <a:prstGeom prst="roundRect">
            <a:avLst/>
          </a:prstGeom>
          <a:solidFill>
            <a:srgbClr val="16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741664" y="4343400"/>
            <a:ext cx="1572768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M4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5074920"/>
            <a:ext cx="356616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1B2430"/>
                </a:solidFill>
                <a:latin typeface="Calibri"/>
              </a:rPr>
              <a:t>Phase 6 - Central Control Tower (Orchestration)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751189" y="5170170"/>
            <a:ext cx="3126486" cy="467868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41664" y="5074920"/>
            <a:ext cx="3145536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M4-M5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023360" y="5806440"/>
            <a:ext cx="7863840" cy="18288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513451" y="5733288"/>
            <a:ext cx="146304" cy="146304"/>
          </a:xfrm>
          <a:prstGeom prst="ellipse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450592" y="5943600"/>
            <a:ext cx="3145536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900" b="1" i="0">
                <a:solidFill>
                  <a:srgbClr val="1B2430"/>
                </a:solidFill>
                <a:latin typeface="Calibri"/>
              </a:rPr>
              <a:t>M1: MVP live</a:t>
            </a:r>
          </a:p>
        </p:txBody>
      </p:sp>
      <p:sp>
        <p:nvSpPr>
          <p:cNvPr id="43" name="Oval 42"/>
          <p:cNvSpPr/>
          <p:nvPr/>
        </p:nvSpPr>
        <p:spPr>
          <a:xfrm>
            <a:off x="8658987" y="5733288"/>
            <a:ext cx="146304" cy="146304"/>
          </a:xfrm>
          <a:prstGeom prst="ellipse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596128" y="5943600"/>
            <a:ext cx="3145536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900" b="1" i="0">
                <a:solidFill>
                  <a:srgbClr val="1B2430"/>
                </a:solidFill>
                <a:latin typeface="Calibri"/>
              </a:rPr>
              <a:t>M3: Governance insights</a:t>
            </a:r>
          </a:p>
        </p:txBody>
      </p:sp>
      <p:sp>
        <p:nvSpPr>
          <p:cNvPr id="45" name="Oval 44"/>
          <p:cNvSpPr/>
          <p:nvPr/>
        </p:nvSpPr>
        <p:spPr>
          <a:xfrm>
            <a:off x="10231755" y="5733288"/>
            <a:ext cx="146304" cy="146304"/>
          </a:xfrm>
          <a:prstGeom prst="ellipse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168896" y="5943600"/>
            <a:ext cx="3145536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900" b="1" i="0">
                <a:solidFill>
                  <a:srgbClr val="1B2430"/>
                </a:solidFill>
                <a:latin typeface="Calibri"/>
              </a:rPr>
              <a:t>M4: Knowledge Q&amp;A</a:t>
            </a:r>
          </a:p>
        </p:txBody>
      </p:sp>
      <p:sp>
        <p:nvSpPr>
          <p:cNvPr id="47" name="Oval 46"/>
          <p:cNvSpPr/>
          <p:nvPr/>
        </p:nvSpPr>
        <p:spPr>
          <a:xfrm>
            <a:off x="11804523" y="5733288"/>
            <a:ext cx="146304" cy="146304"/>
          </a:xfrm>
          <a:prstGeom prst="ellipse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741664" y="5943600"/>
            <a:ext cx="3145536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900" b="1" i="0">
                <a:solidFill>
                  <a:srgbClr val="1B2430"/>
                </a:solidFill>
                <a:latin typeface="Calibri"/>
              </a:rPr>
              <a:t>M5: Control Tower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5760" y="6355080"/>
            <a:ext cx="114300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0" i="1">
                <a:solidFill>
                  <a:srgbClr val="6B7480"/>
                </a:solidFill>
                <a:latin typeface="Calibri"/>
              </a:rPr>
              <a:t>Diamonds = key milestones.  Bars span planned delivery months per phase.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Phase Detail &amp; AWS Service Mapping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3657600" cy="41148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960120"/>
            <a:ext cx="3657600" cy="411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Phase &amp; Timeline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4160520" y="960120"/>
            <a:ext cx="4572000" cy="41148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60520" y="960120"/>
            <a:ext cx="4572000" cy="411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Objective</a:t>
            </a:r>
          </a:p>
        </p:txBody>
      </p:sp>
      <p:sp>
        <p:nvSpPr>
          <p:cNvPr id="9" name="Rectangle 8"/>
          <p:cNvSpPr/>
          <p:nvPr/>
        </p:nvSpPr>
        <p:spPr>
          <a:xfrm>
            <a:off x="8869680" y="960120"/>
            <a:ext cx="2926080" cy="41148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0" y="960120"/>
            <a:ext cx="2926080" cy="411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Core AWS Services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463040"/>
            <a:ext cx="11521440" cy="804672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463040"/>
            <a:ext cx="109728" cy="804672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5760" y="1463040"/>
            <a:ext cx="3520440" cy="8046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50" b="1" i="0">
                <a:solidFill>
                  <a:srgbClr val="1B2430"/>
                </a:solidFill>
                <a:latin typeface="Calibri"/>
              </a:rPr>
              <a:t>Phase 1 - Administrative AI Agent (MVP)</a:t>
            </a:r>
          </a:p>
          <a:p>
            <a:pPr algn="l"/>
            <a:r>
              <a:rPr sz="1050" b="1" i="0">
                <a:solidFill>
                  <a:srgbClr val="1B2430"/>
                </a:solidFill>
                <a:latin typeface="Calibri"/>
              </a:rPr>
              <a:t>(M1)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0520" y="1463040"/>
            <a:ext cx="4572000" cy="8046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 i="0">
                <a:solidFill>
                  <a:srgbClr val="1B2430"/>
                </a:solidFill>
                <a:latin typeface="Calibri"/>
              </a:rPr>
              <a:t>Automate meeting admin: transcripts to minutes, actions, owners, due dates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1463040"/>
            <a:ext cx="2926080" cy="8046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 i="0">
                <a:solidFill>
                  <a:srgbClr val="6B7480"/>
                </a:solidFill>
                <a:latin typeface="Calibri"/>
              </a:rPr>
              <a:t>Amazon Transcribe</a:t>
            </a:r>
          </a:p>
          <a:p>
            <a:pPr algn="l"/>
            <a:r>
              <a:rPr sz="900" b="0" i="0">
                <a:solidFill>
                  <a:srgbClr val="6B7480"/>
                </a:solidFill>
                <a:latin typeface="Calibri"/>
              </a:rPr>
              <a:t>Amazon Bedrock</a:t>
            </a:r>
          </a:p>
          <a:p>
            <a:pPr algn="l"/>
            <a:r>
              <a:rPr sz="900" b="0" i="0">
                <a:solidFill>
                  <a:srgbClr val="6B7480"/>
                </a:solidFill>
                <a:latin typeface="Calibri"/>
              </a:rPr>
              <a:t>Amazon S3</a:t>
            </a:r>
          </a:p>
          <a:p>
            <a:pPr algn="l"/>
            <a:r>
              <a:rPr sz="900" b="0" i="0">
                <a:solidFill>
                  <a:srgbClr val="6B7480"/>
                </a:solidFill>
                <a:latin typeface="Calibri"/>
              </a:rPr>
              <a:t>DynamoDB</a:t>
            </a:r>
          </a:p>
          <a:p>
            <a:pPr algn="l"/>
            <a:r>
              <a:rPr sz="900" b="0" i="0">
                <a:solidFill>
                  <a:srgbClr val="6B7480"/>
                </a:solidFill>
                <a:latin typeface="Calibri"/>
              </a:rPr>
              <a:t>AWS Lambda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267712"/>
            <a:ext cx="11521440" cy="8046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2267712"/>
            <a:ext cx="109728" cy="804672"/>
          </a:xfrm>
          <a:prstGeom prst="rect">
            <a:avLst/>
          </a:prstGeom>
          <a:solidFill>
            <a:srgbClr val="28B4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5760" y="2267712"/>
            <a:ext cx="3520440" cy="8046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50" b="1" i="0">
                <a:solidFill>
                  <a:srgbClr val="1B2430"/>
                </a:solidFill>
                <a:latin typeface="Calibri"/>
              </a:rPr>
              <a:t>Phase 2 - Action Tracking Agent</a:t>
            </a:r>
          </a:p>
          <a:p>
            <a:pPr algn="l"/>
            <a:r>
              <a:rPr sz="1050" b="1" i="0">
                <a:solidFill>
                  <a:srgbClr val="1B2430"/>
                </a:solidFill>
                <a:latin typeface="Calibri"/>
              </a:rPr>
              <a:t>(M2)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60520" y="2267712"/>
            <a:ext cx="4572000" cy="8046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 i="0">
                <a:solidFill>
                  <a:srgbClr val="1B2430"/>
                </a:solidFill>
                <a:latin typeface="Calibri"/>
              </a:rPr>
              <a:t>Monitor, remind, escalate and report on open / overdue actions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2267712"/>
            <a:ext cx="2926080" cy="8046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 i="0">
                <a:solidFill>
                  <a:srgbClr val="6B7480"/>
                </a:solidFill>
                <a:latin typeface="Calibri"/>
              </a:rPr>
              <a:t>Amazon EventBridge</a:t>
            </a:r>
          </a:p>
          <a:p>
            <a:pPr algn="l"/>
            <a:r>
              <a:rPr sz="900" b="0" i="0">
                <a:solidFill>
                  <a:srgbClr val="6B7480"/>
                </a:solidFill>
                <a:latin typeface="Calibri"/>
              </a:rPr>
              <a:t>Amazon SES / SNS</a:t>
            </a:r>
          </a:p>
          <a:p>
            <a:pPr algn="l"/>
            <a:r>
              <a:rPr sz="900" b="0" i="0">
                <a:solidFill>
                  <a:srgbClr val="6B7480"/>
                </a:solidFill>
                <a:latin typeface="Calibri"/>
              </a:rPr>
              <a:t>DynamoDB</a:t>
            </a:r>
          </a:p>
          <a:p>
            <a:pPr algn="l"/>
            <a:r>
              <a:rPr sz="900" b="0" i="0">
                <a:solidFill>
                  <a:srgbClr val="6B7480"/>
                </a:solidFill>
                <a:latin typeface="Calibri"/>
              </a:rPr>
              <a:t>AWS Lambda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072384"/>
            <a:ext cx="11521440" cy="804672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3072384"/>
            <a:ext cx="109728" cy="804672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5760" y="3072384"/>
            <a:ext cx="3520440" cy="8046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50" b="1" i="0">
                <a:solidFill>
                  <a:srgbClr val="1B2430"/>
                </a:solidFill>
                <a:latin typeface="Calibri"/>
              </a:rPr>
              <a:t>Phase 3 - Governance &amp; Forum Agent</a:t>
            </a:r>
          </a:p>
          <a:p>
            <a:pPr algn="l"/>
            <a:r>
              <a:rPr sz="1050" b="1" i="0">
                <a:solidFill>
                  <a:srgbClr val="1B2430"/>
                </a:solidFill>
                <a:latin typeface="Calibri"/>
              </a:rPr>
              <a:t>(M2-M3)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60520" y="3072384"/>
            <a:ext cx="4572000" cy="8046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 i="0">
                <a:solidFill>
                  <a:srgbClr val="1B2430"/>
                </a:solidFill>
                <a:latin typeface="Calibri"/>
              </a:rPr>
              <a:t>Read SteerCo / CIO / Cyber / Risk / Audit outputs; detect themes &amp; risks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0" y="3072384"/>
            <a:ext cx="2926080" cy="8046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 i="0">
                <a:solidFill>
                  <a:srgbClr val="6B7480"/>
                </a:solidFill>
                <a:latin typeface="Calibri"/>
              </a:rPr>
              <a:t>Amazon Bedrock</a:t>
            </a:r>
          </a:p>
          <a:p>
            <a:pPr algn="l"/>
            <a:r>
              <a:rPr sz="900" b="0" i="0">
                <a:solidFill>
                  <a:srgbClr val="6B7480"/>
                </a:solidFill>
                <a:latin typeface="Calibri"/>
              </a:rPr>
              <a:t>Bedrock Knowledge Bases</a:t>
            </a:r>
          </a:p>
          <a:p>
            <a:pPr algn="l"/>
            <a:r>
              <a:rPr sz="900" b="0" i="0">
                <a:solidFill>
                  <a:srgbClr val="6B7480"/>
                </a:solidFill>
                <a:latin typeface="Calibri"/>
              </a:rPr>
              <a:t>Amazon S3</a:t>
            </a:r>
          </a:p>
          <a:p>
            <a:pPr algn="l"/>
            <a:r>
              <a:rPr sz="900" b="0" i="0">
                <a:solidFill>
                  <a:srgbClr val="6B7480"/>
                </a:solidFill>
                <a:latin typeface="Calibri"/>
              </a:rPr>
              <a:t>AWS Lambda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877056"/>
            <a:ext cx="11521440" cy="8046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65760" y="3877056"/>
            <a:ext cx="109728" cy="804672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5760" y="3877056"/>
            <a:ext cx="3520440" cy="8046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50" b="1" i="0">
                <a:solidFill>
                  <a:srgbClr val="1B2430"/>
                </a:solidFill>
                <a:latin typeface="Calibri"/>
              </a:rPr>
              <a:t>Phase 4 - Reporting &amp; Analytics Agent</a:t>
            </a:r>
          </a:p>
          <a:p>
            <a:pPr algn="l"/>
            <a:r>
              <a:rPr sz="1050" b="1" i="0">
                <a:solidFill>
                  <a:srgbClr val="1B2430"/>
                </a:solidFill>
                <a:latin typeface="Calibri"/>
              </a:rPr>
              <a:t>(M3-M4)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60520" y="3877056"/>
            <a:ext cx="4572000" cy="8046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 i="0">
                <a:solidFill>
                  <a:srgbClr val="1B2430"/>
                </a:solidFill>
                <a:latin typeface="Calibri"/>
              </a:rPr>
              <a:t>Consolidate reports, measure delivery, build CIO packs &amp; trend analysis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69680" y="3877056"/>
            <a:ext cx="2926080" cy="8046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 i="0">
                <a:solidFill>
                  <a:srgbClr val="6B7480"/>
                </a:solidFill>
                <a:latin typeface="Calibri"/>
              </a:rPr>
              <a:t>Amazon QuickSight</a:t>
            </a:r>
          </a:p>
          <a:p>
            <a:pPr algn="l"/>
            <a:r>
              <a:rPr sz="900" b="0" i="0">
                <a:solidFill>
                  <a:srgbClr val="6B7480"/>
                </a:solidFill>
                <a:latin typeface="Calibri"/>
              </a:rPr>
              <a:t>AWS Glue</a:t>
            </a:r>
          </a:p>
          <a:p>
            <a:pPr algn="l"/>
            <a:r>
              <a:rPr sz="900" b="0" i="0">
                <a:solidFill>
                  <a:srgbClr val="6B7480"/>
                </a:solidFill>
                <a:latin typeface="Calibri"/>
              </a:rPr>
              <a:t>Amazon Athena</a:t>
            </a:r>
          </a:p>
          <a:p>
            <a:pPr algn="l"/>
            <a:r>
              <a:rPr sz="900" b="0" i="0">
                <a:solidFill>
                  <a:srgbClr val="6B7480"/>
                </a:solidFill>
                <a:latin typeface="Calibri"/>
              </a:rPr>
              <a:t>Amazon S3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4681728"/>
            <a:ext cx="11521440" cy="804672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5760" y="4681728"/>
            <a:ext cx="109728" cy="804672"/>
          </a:xfrm>
          <a:prstGeom prst="rect">
            <a:avLst/>
          </a:prstGeom>
          <a:solidFill>
            <a:srgbClr val="16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5760" y="4681728"/>
            <a:ext cx="3520440" cy="8046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50" b="1" i="0">
                <a:solidFill>
                  <a:srgbClr val="1B2430"/>
                </a:solidFill>
                <a:latin typeface="Calibri"/>
              </a:rPr>
              <a:t>Phase 5 - Enterprise Knowledge Agent</a:t>
            </a:r>
          </a:p>
          <a:p>
            <a:pPr algn="l"/>
            <a:r>
              <a:rPr sz="1050" b="1" i="0">
                <a:solidFill>
                  <a:srgbClr val="1B2430"/>
                </a:solidFill>
                <a:latin typeface="Calibri"/>
              </a:rPr>
              <a:t>(M4)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60520" y="4681728"/>
            <a:ext cx="4572000" cy="8046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 i="0">
                <a:solidFill>
                  <a:srgbClr val="1B2430"/>
                </a:solidFill>
                <a:latin typeface="Calibri"/>
              </a:rPr>
              <a:t>Searchable organisational memory; natural-language Q&amp;A over all outputs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69680" y="4681728"/>
            <a:ext cx="2926080" cy="8046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 i="0">
                <a:solidFill>
                  <a:srgbClr val="6B7480"/>
                </a:solidFill>
                <a:latin typeface="Calibri"/>
              </a:rPr>
              <a:t>Bedrock Knowledge Bases</a:t>
            </a:r>
          </a:p>
          <a:p>
            <a:pPr algn="l"/>
            <a:r>
              <a:rPr sz="900" b="0" i="0">
                <a:solidFill>
                  <a:srgbClr val="6B7480"/>
                </a:solidFill>
                <a:latin typeface="Calibri"/>
              </a:rPr>
              <a:t>OpenSearch Serverless</a:t>
            </a:r>
          </a:p>
          <a:p>
            <a:pPr algn="l"/>
            <a:r>
              <a:rPr sz="900" b="0" i="0">
                <a:solidFill>
                  <a:srgbClr val="6B7480"/>
                </a:solidFill>
                <a:latin typeface="Calibri"/>
              </a:rPr>
              <a:t>Amazon Bedrock (RAG)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5486400"/>
            <a:ext cx="11521440" cy="8046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65760" y="5486400"/>
            <a:ext cx="109728" cy="80467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85760" y="5486400"/>
            <a:ext cx="3520440" cy="8046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50" b="1" i="0">
                <a:solidFill>
                  <a:srgbClr val="1B2430"/>
                </a:solidFill>
                <a:latin typeface="Calibri"/>
              </a:rPr>
              <a:t>Phase 6 - Central Control Tower (Orchestration)</a:t>
            </a:r>
          </a:p>
          <a:p>
            <a:pPr algn="l"/>
            <a:r>
              <a:rPr sz="1050" b="1" i="0">
                <a:solidFill>
                  <a:srgbClr val="1B2430"/>
                </a:solidFill>
                <a:latin typeface="Calibri"/>
              </a:rPr>
              <a:t>(M4-M5)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60520" y="5486400"/>
            <a:ext cx="4572000" cy="8046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 i="0">
                <a:solidFill>
                  <a:srgbClr val="1B2430"/>
                </a:solidFill>
                <a:latin typeface="Calibri"/>
              </a:rPr>
              <a:t>Connect all agents through a central platform - the "spine"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69680" y="5486400"/>
            <a:ext cx="2926080" cy="8046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 i="0">
                <a:solidFill>
                  <a:srgbClr val="6B7480"/>
                </a:solidFill>
                <a:latin typeface="Calibri"/>
              </a:rPr>
              <a:t>Amazon Bedrock Agents</a:t>
            </a:r>
          </a:p>
          <a:p>
            <a:pPr algn="l"/>
            <a:r>
              <a:rPr sz="900" b="0" i="0">
                <a:solidFill>
                  <a:srgbClr val="6B7480"/>
                </a:solidFill>
                <a:latin typeface="Calibri"/>
              </a:rPr>
              <a:t>AWS Step Functions</a:t>
            </a:r>
          </a:p>
          <a:p>
            <a:pPr algn="l"/>
            <a:r>
              <a:rPr sz="900" b="0" i="0">
                <a:solidFill>
                  <a:srgbClr val="6B7480"/>
                </a:solidFill>
                <a:latin typeface="Calibri"/>
              </a:rPr>
              <a:t>API Gateway</a:t>
            </a:r>
          </a:p>
          <a:p>
            <a:pPr algn="l"/>
            <a:r>
              <a:rPr sz="900" b="0" i="0">
                <a:solidFill>
                  <a:srgbClr val="6B7480"/>
                </a:solidFill>
                <a:latin typeface="Calibri"/>
              </a:rPr>
              <a:t>Amazon Cognito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" y="6355080"/>
            <a:ext cx="115214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0" i="1">
                <a:solidFill>
                  <a:srgbClr val="6B7480"/>
                </a:solidFill>
                <a:latin typeface="Calibri"/>
              </a:rPr>
              <a:t>Cross-cutting from M1: Security &amp; IAM, Cost governance, Data privacy, CI/CD, Human-in-the-loop review.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